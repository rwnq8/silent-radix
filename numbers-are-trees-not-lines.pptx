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56DB"/>
                </a:solidFill>
                <a:latin typeface="Calibri"/>
              </a:defRPr>
            </a:pPr>
            <a:r>
              <a:t>NUMBERS ARE TREES,</a:t>
            </a:r>
            <a:br/>
            <a:r>
              <a:t>NOT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Calibri"/>
              </a:defRPr>
            </a:pPr>
            <a:r>
              <a:t>The Hidden Geometry That Crashed a Spaceship,</a:t>
            </a:r>
            <a:br/>
            <a:r>
              <a:t>Broke Your Compiler, and Might Explain the Universe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389120"/>
            <a:ext cx="2103120" cy="36576"/>
          </a:xfrm>
          <a:prstGeom prst="rect">
            <a:avLst/>
          </a:prstGeom>
          <a:solidFill>
            <a:srgbClr val="D49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A Layperson's Guide to the Silent Radix Research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QNFO Research, 2026  •  DOI: 10.5281/zenodo.21134188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PART 1  •  THE JOKE THAT ISN'T FUNNY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"There are 10 types of people..."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828800" cy="36576"/>
          </a:xfrm>
          <a:prstGeom prst="rect">
            <a:avLst/>
          </a:prstGeom>
          <a:solidFill>
            <a:srgbClr val="D49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"There are 10 types of people in the world: those who understand binary, and those who don't."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In binary, "10" means TWO, not TEN.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THE PUNCHLINE YOU MISSED: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→ The same symbol "10" means two completely different things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→ The difference is INVISIBLE on the page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→ You can only tell which it is if you already know the context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→ If you guess wrong, you are CATASTROPHICALLY wrong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That's not a joke. That's a structural defect in how we write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903D"/>
                </a:solidFill>
                <a:latin typeface="Calibri"/>
              </a:defRPr>
            </a:pPr>
            <a:r>
              <a:t>Numbers are not points on a line. They are leaves on a tree.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PART 2  •  THE NUMBER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Calibri"/>
              </a:defRPr>
            </a:pPr>
            <a:r>
              <a:t>Two Fundamentally Different Geometries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THE NUMBER LINE (Euclidean)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0 — 1 — 2 — 3 — 4 — 5 — 6 — 7 ...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Distance = absolute difference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|8 − 7| = 1, |12 − 7| = 5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Numbers equally spaced on a ruler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One dimension, flat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Descartes, 17th century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Dominant in Western mathematics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⚠ The observer is ERASED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Calibri"/>
              </a:defRPr>
            </a:pPr>
            <a:r>
              <a:t>THE NUMBER TREE (Ultrametric)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root → [0..9] → [00..99] → ...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Distance = shared trailing digits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327 is closer to 300 than to 326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Multi-level branching structure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Each digit = one level of nesting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Hensel (1897), Ostrowski (1916)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Only 2 fundamental geometries exist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✅ The observer is RESTORED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Ultrametric: the fancy word for "tree-like distance"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PART 2  •  TREE DISTANCE vs LINE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Same Numbers, Radically Different "Closeness"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91640"/>
            <a:ext cx="103327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Number 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Line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Tree Distance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327 &amp; 327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392B"/>
                </a:solidFill>
                <a:latin typeface="Calibri"/>
              </a:defRPr>
            </a:pPr>
            <a:r>
              <a:t>0 (identical)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56DB"/>
                </a:solidFill>
                <a:latin typeface="Calibri"/>
              </a:defRPr>
            </a:pPr>
            <a:r>
              <a:t>0 (identical)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00400"/>
            <a:ext cx="10332720" cy="6858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327 &amp; 326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392B"/>
                </a:solidFill>
                <a:latin typeface="Calibri"/>
              </a:defRPr>
            </a:pPr>
            <a:r>
              <a:t>1 (very close)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56DB"/>
                </a:solidFill>
                <a:latin typeface="Calibri"/>
              </a:defRPr>
            </a:pPr>
            <a:r>
              <a:t>0 levels shared — FAR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77640"/>
            <a:ext cx="10332720" cy="6858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327 &amp; 320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392B"/>
                </a:solidFill>
                <a:latin typeface="Calibri"/>
              </a:defRPr>
            </a:pPr>
            <a:r>
              <a:t>7 — FAR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56DB"/>
                </a:solidFill>
                <a:latin typeface="Calibri"/>
              </a:defRPr>
            </a:pPr>
            <a:r>
              <a:t>1 level shared — CLOSE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754880"/>
            <a:ext cx="10332720" cy="6858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327 &amp; 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392B"/>
                </a:solidFill>
                <a:latin typeface="Calibri"/>
              </a:defRPr>
            </a:pPr>
            <a:r>
              <a:t>27 — FARTHER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56DB"/>
                </a:solidFill>
                <a:latin typeface="Calibri"/>
              </a:defRPr>
            </a:pPr>
            <a:r>
              <a:t>2 levels shared — CLOSER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669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327 &amp; 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6692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392B"/>
                </a:solidFill>
                <a:latin typeface="Calibri"/>
              </a:defRPr>
            </a:pPr>
            <a:r>
              <a:t>227 — VERY FAR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6692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56DB"/>
                </a:solidFill>
                <a:latin typeface="Calibri"/>
              </a:defRPr>
            </a:pPr>
            <a:r>
              <a:t>0 levels shared — FAR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903D"/>
                </a:solidFill>
                <a:latin typeface="Calibri"/>
              </a:defRPr>
            </a:pPr>
            <a:r>
              <a:t>LINE: 327 is closer to 326. TREE: 327 is closer to 300 (share "00" trailing digits).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PART 3  •  THE SILENT RADIX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DB"/>
                </a:solidFill>
                <a:latin typeface="Calibri"/>
              </a:defRPr>
            </a:pPr>
            <a:r>
              <a:t>The Base Isn't Written on the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2E"/>
                </a:solidFill>
                <a:latin typeface="Calibri"/>
              </a:defRPr>
            </a:pPr>
            <a:r>
              <a:t>When you see "10", is that: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474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903D"/>
                </a:solidFill>
                <a:latin typeface="Calibri"/>
              </a:defRPr>
            </a:pPr>
            <a:r>
              <a:t>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Decimal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926080"/>
            <a:ext cx="3474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903D"/>
                </a:solidFill>
                <a:latin typeface="Calibri"/>
              </a:defRPr>
            </a:pPr>
            <a:r>
              <a:t>TWO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Binary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926080"/>
            <a:ext cx="3474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903D"/>
                </a:solidFill>
                <a:latin typeface="Calibri"/>
              </a:defRPr>
            </a:pPr>
            <a:r>
              <a:t>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Octal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3474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903D"/>
                </a:solidFill>
                <a:latin typeface="Calibri"/>
              </a:defRPr>
            </a:pPr>
            <a:r>
              <a:t>SIXTEEN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Hexadecimal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297680"/>
            <a:ext cx="3474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903D"/>
                </a:solidFill>
                <a:latin typeface="Calibri"/>
              </a:defRPr>
            </a:pPr>
            <a:r>
              <a:t>SIXTY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Babylonian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  <a:latin typeface="Calibri"/>
              </a:defRPr>
            </a:pPr>
            <a:r>
              <a:t>You CANNOT tell from the symbol alone. The base is SILENT.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DISASTER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MARS CLIMATE ORBITER (1999)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D49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903D"/>
                </a:solidFill>
                <a:latin typeface="Calibri"/>
              </a:defRPr>
            </a:pPr>
            <a:r>
              <a:t>$327.6 MILLION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NASA's spacecraft approached Mars at 57km instead of 140-150km.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Lockheed Martin: pound-force seconds. JPL: newton-seconds.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The numbers were correct. The UNITS were wrong.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Pattern: The frame (unit) wasn't carried with the number.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Result: Spacecraft destroyed. Years of science lost.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DISASTER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GIMLI GLIDER (1983)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D49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903D"/>
                </a:solidFill>
                <a:latin typeface="Calibri"/>
              </a:defRPr>
            </a:pPr>
            <a:r>
              <a:t>69 LIVES AT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Boeing 767 ran out of fuel at 41,000ft over Manitoba.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Ground crew loaded fuel in pounds instead of kilograms.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Pattern: The unit was missing. Again.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Result: Both engines flamed out. Emergency landing on a racetrack.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Miraculously, nobody died.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DISASTER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C OCTAL BUG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D49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903D"/>
                </a:solidFill>
                <a:latin typeface="Calibri"/>
              </a:defRPr>
            </a:pPr>
            <a:r>
              <a:t>HUNDREDS OF SOFTWARE VULNERABILITIES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In C: 010 = 8 (octal), not 10 (decimal).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Programmers write 'int perm = 010' meaning decimal 10.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The compiler reads octal 8.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Pattern: The base was silently assumed.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Result: Security vulnerabilities for 50+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DISASTER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LIKERT SCALE ABUSE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D49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903D"/>
                </a:solidFill>
                <a:latin typeface="Calibri"/>
              </a:defRPr>
            </a:pPr>
            <a:r>
              <a:t>ENTIRE FIELDS AT STATISTICAL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'Rate your pain from 0-10' → then compute the average.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But pain isn't linear — a 7 isn't 1.4× worse than a 5.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Stevens (1946): Nominal, Ordinal, Interval, Ratio.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Computing an average on ordinal data is a CATEGORY ERROR.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Pattern: The scale type was silently assumed.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PART 3  •  THE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Calibri"/>
              </a:defRPr>
            </a:pPr>
            <a:r>
              <a:t>The Silent Frame Failure — 4 Steps to Disaster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①  Number Created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A number is born with a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specific frame: base, unit,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metric, scale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903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011680"/>
            <a:ext cx="256032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②  Frame Stripped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The frame is NOT carried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with the number.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The radix is silent.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903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256032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③  Context Shifts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The number enters a new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context where the default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frame is different.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903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011680"/>
            <a:ext cx="25603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④  Disaster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Mismatch = catastrophic error.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$327M lost. 69 lives at risk.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Hundreds of vulnerabilities.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Calibri"/>
              </a:defRPr>
            </a:pPr>
            <a:r>
              <a:t>This pattern is INVARIANT: aerospace, aviation, software, statistics, ancient math.</a:t>
            </a:r>
            <a:br/>
            <a:r>
              <a:t>The frame is always missing. The disaster is always the same.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PART 4  •  THE LOST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Calibri"/>
              </a:defRPr>
            </a:pPr>
            <a:r>
              <a:t>Ostrowski's Theorem (1916): Only TWO Geometries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A1A2E"/>
                </a:solidFill>
                <a:latin typeface="Calibri"/>
              </a:defRPr>
            </a:pPr>
            <a:r>
              <a:t>"The only ways to measure distance on rational numbers are Euclidean or p-adic."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REAL NUMBERS (Line)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The number line everyone knows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Distance = |b − a|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Calculus, physics, engineering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Dominant since Descartes (17th c.)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"The default" — but it's just one 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Calibri"/>
              </a:defRPr>
            </a:pPr>
            <a:r>
              <a:t>p-ADIC NUMBERS (Tree)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718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Invented by Hensel (1897)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Distance = shared trailing digits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Number theory, quantum foundations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Forgotten for 125 years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THE geometry of positional 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903D"/>
                </a:solidFill>
                <a:latin typeface="Calibri"/>
              </a:defRPr>
            </a:pPr>
            <a:r>
              <a:t>We flattened the tree onto a line 400 years ago. The tree was there all along.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PART 6  •  THE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The Tree Structure Has Physical Consequences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Calibri"/>
              </a:defRPr>
            </a:pPr>
            <a:r>
              <a:t>PAGE-WOOTTERS QUANTUM CLOCKS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Time emerges from a static quantum state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One part of system acts as the clock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8,000+ simulations: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Diagonal coupling → 0% violations = PERFECT TREE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Nondiagonal → ~33% violations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The tree is the NATURAL geometry of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8288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903D"/>
                </a:solidFill>
                <a:latin typeface="Calibri"/>
              </a:defRPr>
            </a:pPr>
            <a:r>
              <a:t>SPIN GLASS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331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Magnetic systems with random interactions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Parisi (1979): Replica symmetry breaking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→ states form an ultrametric tree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Ultrametric constraint suppresses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 glass transition by 10-15×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The tree is a PHYSICAL organizing principle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KEY INSIGHT: The tree comes FIRST. The line is a special case.</a:t>
            </a:r>
            <a:br/>
            <a:r>
              <a:t>Time is fundamentally branching, not flowing.</a:t>
            </a:r>
            <a:br/>
            <a:br/>
            <a:r>
              <a:t>The Mars Climate Orbiter crashed because of a PHILOSOPHICAL BLIND SPOT.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PART 7  •  THE REMEDY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6DB"/>
                </a:solidFill>
                <a:latin typeface="Calibri"/>
              </a:defRPr>
            </a:pPr>
            <a:r>
              <a:t>Nine Principles for Self-Aware Numeric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4572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Cyclic 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Every numeral declares the cycles it counts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4572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Explicit 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No number without its radix, unit, scale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4572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Native Ultrametric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Default distance = tree (shared nesting depth)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4572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03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Zero as Root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886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The unmarked state — no 'negative distance'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38328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3383280"/>
            <a:ext cx="4572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3703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Re-entry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199" y="3886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"10" = cycle observing its own completion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38328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383280"/>
            <a:ext cx="4572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703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Arithmetic Invariance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886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Laws hold; meaning is frame-dependent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93776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937760"/>
            <a:ext cx="4572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257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Layered Completion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440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The continuous line is SECONDARY to the tree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59" y="493776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59" y="4937760"/>
            <a:ext cx="4572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79" y="5257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199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Second-Order Numeracy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199" y="5440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Systems must represent their own choices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493776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4937760"/>
            <a:ext cx="4572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5257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Temporal Primacy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440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Calibri"/>
              </a:defRPr>
            </a:pPr>
            <a:r>
              <a:t>Time (cyclic counting) is fundamental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903D"/>
                </a:solidFill>
                <a:latin typeface="Calibri"/>
              </a:defRPr>
            </a:pPr>
            <a:r>
              <a:t>NUMBERS ARE TREES,</a:t>
            </a:r>
            <a:br/>
            <a:r>
              <a:t>NOT 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✦  The Mars Climate Orbiter wasn't a 'unit error' — it was a philosophical blind spot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✦  The C octal bug isn't a bug — it's a structural feature of positional notation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✦  p-adic numbers recover the tree structure that was there all along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✦  Ultrametricity emerges from quantum clocks and suppresses spin glass behavior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✦  The solution is NOT 'be more careful' — it's to CHANGE THE FOUNDATION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The tree was always there. We just needed to remember how to see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Read: hensel.qnfo.org  |  PDF: hensel.qnfo.org/numbers-are-trees-not-lines.pdf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